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9FA6C8-9E44-611D-D56B-C6BA4554D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405A809-B3D7-E2CD-31E8-028E24518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A1D056-4B1D-F231-5598-6F5BFBB1C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AD6605-A62D-EC6B-C10E-5C8A544F5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2B1A6B-54D3-7A6B-0827-27B023DA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776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1B54FD-6EDE-5194-3E92-A4C10BC7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4F4922-6AC7-55F6-FF02-A62AFA1E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12317B-29DE-6369-E73B-A3D14D10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B9533B-F56B-E6EF-BC30-9712FAAF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36BF1F-011A-5E9E-9CEE-27923C42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59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39BE47-0FA0-7891-D014-279F21B3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5424A6-5DD6-25B7-CDE1-5E1E0490B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26DA95-44AF-1F33-78F4-45CE1AEB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21A991-84FA-8AF8-C1A0-C65AC979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FA4A0D-7F2C-D8E6-925F-C4F6BB51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16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49F589-4A2F-1893-443D-B7F8D481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765284-DD6A-47FC-134A-BF9F6630B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F1DF06-31EE-559E-2AA3-9AE2509DD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5EABD5-D0B5-9007-85E9-FA7C888D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DF76D4-43A7-5CE7-2A42-CC425BD7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D9674D-C91F-7D22-AE98-EE0D5B5B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63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EEEB13-5BDB-5939-83A2-9E4911E5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F68356-05C8-07D0-CC29-C9EBA5442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F57D237-6A0D-5B6E-1AC0-7212BFD74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964436F-942F-0EEF-7319-C4F0552F0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F1277BE-FE4B-6012-D0F0-DBB6CCECD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EA09691-067B-89AA-9D5A-A44799F69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959D52-8903-E0F7-447E-AD111ACE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B5D57FF-39C1-660C-6E58-198F299E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33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2AC322-1B4C-8EC9-350A-A387FD08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421E69F-F1E2-423B-9999-1CE34F86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4B1D575-AC10-E0E6-4574-58488FF0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934F299-460B-17FA-EFED-0FB307E4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93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60153ED-58E0-2A07-26C5-1B95CD5C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4C55683-0B99-4DD7-143B-06DF4177A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55387D-DA13-5FD0-1D99-58F0BBFF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3660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4CE4F0-5097-D22A-3CEA-DF2F7B053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82C1D4-B5C5-1B83-D8B0-65E48F06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4D955C-C53B-95A1-FCA7-34D195EDF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EF19D1-EB7A-1CD4-5937-2B66BB1E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E705B0-193F-BB49-8B76-C5DD5043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450D4D-B68F-A227-4FE8-196E03F7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08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63232E-66ED-EF3A-8B5A-C44EC632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DB5A83E-471C-C220-3C28-A099499C5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4E456E6-F492-8413-8470-8D8CD0CB9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AA36BE3-E84F-2A7F-DD43-B2840FA0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68F349-D3DF-1F78-AB03-338B7F33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387684-F658-A411-AEFD-5C0D6674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72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633F53-237B-AA67-E5CF-77454270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800055-1270-FA2C-6751-A59B2EE44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5F4C27-EA0C-845C-31D1-00A2ECEE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5A5FA7-C911-814F-93E7-E5C15741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53CDCC-9AC7-4923-6287-3CA1FDD7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86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FEBE1-A7F5-8F93-9B9D-20D823893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90B623-6725-178C-2C5E-CB614B7AF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C32431-9D33-1B44-93FD-B128AEEA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65965A-2C08-A624-4081-AA3B1F246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FC9BF2-C5A0-84C0-666F-73D030D7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56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743C57D-263A-AEDD-8B09-90E6511BD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6A4DD1-ADA5-F624-729B-AC2562A65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E67BD0-8C40-4563-06F7-BC18E8C3F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DB0C7-01F6-44E3-B64A-79885300AE40}" type="datetimeFigureOut">
              <a:rPr lang="zh-TW" altLang="en-US" smtClean="0"/>
              <a:t>2024/12/12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ED016E-2BF1-23F9-E0A2-502E5EB71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6BEE34-DD0C-2A7C-B51B-033EBDFB9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DD7B8-2D16-486F-8577-E68EF237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517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0.e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15.w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2.e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5" Type="http://schemas.openxmlformats.org/officeDocument/2006/relationships/image" Target="../media/image21.e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3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2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24.wmf"/><Relationship Id="rId7" Type="http://schemas.openxmlformats.org/officeDocument/2006/relationships/image" Target="../media/image26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0.e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5.w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2.emf"/><Relationship Id="rId5" Type="http://schemas.openxmlformats.org/officeDocument/2006/relationships/image" Target="../media/image29.wmf"/><Relationship Id="rId15" Type="http://schemas.openxmlformats.org/officeDocument/2006/relationships/image" Target="../media/image34.e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1.emf"/><Relationship Id="rId14" Type="http://schemas.openxmlformats.org/officeDocument/2006/relationships/oleObject" Target="../embeddings/oleObject3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6.emf"/><Relationship Id="rId7" Type="http://schemas.openxmlformats.org/officeDocument/2006/relationships/image" Target="../media/image38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0.wmf"/><Relationship Id="rId5" Type="http://schemas.openxmlformats.org/officeDocument/2006/relationships/image" Target="../media/image37.e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4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5.e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50.emf"/><Relationship Id="rId2" Type="http://schemas.openxmlformats.org/officeDocument/2006/relationships/oleObject" Target="../embeddings/oleObject43.bin"/><Relationship Id="rId16" Type="http://schemas.openxmlformats.org/officeDocument/2006/relationships/oleObject" Target="../embeddings/oleObject5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5" Type="http://schemas.openxmlformats.org/officeDocument/2006/relationships/image" Target="../media/image49.e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6.emf"/><Relationship Id="rId14" Type="http://schemas.openxmlformats.org/officeDocument/2006/relationships/oleObject" Target="../embeddings/oleObject4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51.e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5.emf"/><Relationship Id="rId5" Type="http://schemas.openxmlformats.org/officeDocument/2006/relationships/image" Target="../media/image52.e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DEA09-421B-95C1-5350-75BB4F43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7271" y="0"/>
            <a:ext cx="3417455" cy="535709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Description</a:t>
            </a:r>
            <a:endParaRPr lang="zh-TW" altLang="en-US" sz="8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611415-A081-9D69-567A-3A6896857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877310"/>
            <a:ext cx="9476510" cy="5274108"/>
          </a:xfrm>
        </p:spPr>
        <p:txBody>
          <a:bodyPr/>
          <a:lstStyle/>
          <a:p>
            <a:pPr algn="l"/>
            <a:endParaRPr lang="en-US" altLang="zh-TW" sz="1800" dirty="0"/>
          </a:p>
          <a:p>
            <a:pPr algn="l"/>
            <a:endParaRPr lang="en-US" altLang="zh-TW" sz="1800" dirty="0"/>
          </a:p>
          <a:p>
            <a:pPr algn="l"/>
            <a:endParaRPr lang="en-US" altLang="zh-TW" sz="1800" dirty="0"/>
          </a:p>
          <a:p>
            <a:pPr algn="l"/>
            <a:endParaRPr lang="en-US" altLang="zh-TW" sz="1800" dirty="0"/>
          </a:p>
          <a:p>
            <a:pPr algn="l"/>
            <a:endParaRPr lang="en-US" altLang="zh-TW" sz="1800" dirty="0"/>
          </a:p>
          <a:p>
            <a:pPr algn="l"/>
            <a:r>
              <a:rPr lang="zh-TW" altLang="en-US" dirty="0"/>
              <a:t>            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未知的系統動態的平滑函數</a:t>
            </a:r>
            <a:r>
              <a:rPr lang="zh-TW" altLang="en-US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           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constraints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algn="l"/>
            <a:endParaRPr lang="en-US" altLang="zh-TW" sz="18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是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為正的增益函數</a:t>
            </a:r>
            <a:endParaRPr lang="en-US" altLang="zh-TW" sz="18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是一個連續未知函數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800" dirty="0">
                <a:ea typeface="標楷體" panose="03000509000000000000" pitchFamily="65" charset="-120"/>
                <a:cs typeface="Times New Roman" panose="02020603050405020304" pitchFamily="18" charset="0"/>
              </a:rPr>
              <a:t>滿足</a:t>
            </a:r>
            <a:endParaRPr lang="en-US" altLang="zh-TW" sz="18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是另一個冗餘未知函數，滿足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zh-TW" altLang="en-US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96AADD51-A882-B274-60BB-4258A41F5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917025"/>
              </p:ext>
            </p:extLst>
          </p:nvPr>
        </p:nvGraphicFramePr>
        <p:xfrm>
          <a:off x="4543362" y="939077"/>
          <a:ext cx="3105275" cy="909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6810" imgH="666744" progId="Equation.DSMT4">
                  <p:embed/>
                </p:oleObj>
              </mc:Choice>
              <mc:Fallback>
                <p:oleObj name="Equation" r:id="rId2" imgW="2276810" imgH="6667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43362" y="939077"/>
                        <a:ext cx="3105275" cy="909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4AED5B31-CD5E-76DD-6A43-A7E6E72EC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494551"/>
              </p:ext>
            </p:extLst>
          </p:nvPr>
        </p:nvGraphicFramePr>
        <p:xfrm>
          <a:off x="1789959" y="2812401"/>
          <a:ext cx="610714" cy="340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397" imgH="276130" progId="Equation.DSMT4">
                  <p:embed/>
                </p:oleObj>
              </mc:Choice>
              <mc:Fallback>
                <p:oleObj name="Equation" r:id="rId4" imgW="495397" imgH="2761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89959" y="2812401"/>
                        <a:ext cx="610714" cy="340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0F2D1E18-1482-70FB-08F8-94480A543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694664"/>
              </p:ext>
            </p:extLst>
          </p:nvPr>
        </p:nvGraphicFramePr>
        <p:xfrm>
          <a:off x="1789958" y="3567509"/>
          <a:ext cx="610715" cy="340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397" imgH="276130" progId="Equation.DSMT4">
                  <p:embed/>
                </p:oleObj>
              </mc:Choice>
              <mc:Fallback>
                <p:oleObj name="Equation" r:id="rId6" imgW="495397" imgH="2761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89958" y="3567509"/>
                        <a:ext cx="610715" cy="340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0D551CBF-3580-9015-15A3-39A670B2F7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483"/>
              </p:ext>
            </p:extLst>
          </p:nvPr>
        </p:nvGraphicFramePr>
        <p:xfrm>
          <a:off x="1789958" y="4322617"/>
          <a:ext cx="2840748" cy="499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5541" imgH="333372" progId="Equation.DSMT4">
                  <p:embed/>
                </p:oleObj>
              </mc:Choice>
              <mc:Fallback>
                <p:oleObj name="Equation" r:id="rId8" imgW="1895541" imgH="33337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89958" y="4322617"/>
                        <a:ext cx="2840748" cy="4996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980DB738-7CB8-A864-C7F2-8F92A9CEBF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096487"/>
              </p:ext>
            </p:extLst>
          </p:nvPr>
        </p:nvGraphicFramePr>
        <p:xfrm>
          <a:off x="7418679" y="3217387"/>
          <a:ext cx="2599811" cy="42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8193" imgH="333372" progId="Equation.DSMT4">
                  <p:embed/>
                </p:oleObj>
              </mc:Choice>
              <mc:Fallback>
                <p:oleObj name="Equation" r:id="rId10" imgW="2048193" imgH="333372" progId="Equation.DSMT4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C87E2FB5-B6E1-ADF9-0B24-7FA1FB509B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18679" y="3217387"/>
                        <a:ext cx="2599811" cy="42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EE8C62D0-7B59-B282-DCEF-03072D635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562748"/>
              </p:ext>
            </p:extLst>
          </p:nvPr>
        </p:nvGraphicFramePr>
        <p:xfrm>
          <a:off x="7418679" y="3908100"/>
          <a:ext cx="459916" cy="376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4303" imgH="257049" progId="Equation.DSMT4">
                  <p:embed/>
                </p:oleObj>
              </mc:Choice>
              <mc:Fallback>
                <p:oleObj name="Equation" r:id="rId12" imgW="314303" imgH="257049" progId="Equation.DSMT4">
                  <p:embed/>
                  <p:pic>
                    <p:nvPicPr>
                      <p:cNvPr id="12" name="物件 11">
                        <a:extLst>
                          <a:ext uri="{FF2B5EF4-FFF2-40B4-BE49-F238E27FC236}">
                            <a16:creationId xmlns:a16="http://schemas.microsoft.com/office/drawing/2014/main" id="{B433EEA5-15D2-5436-6FA8-D4BF48B914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418679" y="3908100"/>
                        <a:ext cx="459916" cy="376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208ED85A-077F-5E04-FB52-76FAF0A4FC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03732"/>
              </p:ext>
            </p:extLst>
          </p:nvPr>
        </p:nvGraphicFramePr>
        <p:xfrm>
          <a:off x="8118391" y="4382582"/>
          <a:ext cx="1967490" cy="393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28947" imgH="285850" progId="Equation.DSMT4">
                  <p:embed/>
                </p:oleObj>
              </mc:Choice>
              <mc:Fallback>
                <p:oleObj name="Equation" r:id="rId14" imgW="1428947" imgH="285850" progId="Equation.DSMT4">
                  <p:embed/>
                  <p:pic>
                    <p:nvPicPr>
                      <p:cNvPr id="14" name="物件 13">
                        <a:extLst>
                          <a:ext uri="{FF2B5EF4-FFF2-40B4-BE49-F238E27FC236}">
                            <a16:creationId xmlns:a16="http://schemas.microsoft.com/office/drawing/2014/main" id="{4DE12CD8-BA3C-28FD-2E52-5FAD368394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18391" y="4382582"/>
                        <a:ext cx="1967490" cy="393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80F3E0D6-B278-C5E3-EBC4-ABE80FC45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910449"/>
              </p:ext>
            </p:extLst>
          </p:nvPr>
        </p:nvGraphicFramePr>
        <p:xfrm>
          <a:off x="7418679" y="5069014"/>
          <a:ext cx="526812" cy="376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3385" imgH="237969" progId="Equation.DSMT4">
                  <p:embed/>
                </p:oleObj>
              </mc:Choice>
              <mc:Fallback>
                <p:oleObj name="Equation" r:id="rId16" imgW="333385" imgH="237969" progId="Equation.DSMT4">
                  <p:embed/>
                  <p:pic>
                    <p:nvPicPr>
                      <p:cNvPr id="15" name="物件 14">
                        <a:extLst>
                          <a:ext uri="{FF2B5EF4-FFF2-40B4-BE49-F238E27FC236}">
                            <a16:creationId xmlns:a16="http://schemas.microsoft.com/office/drawing/2014/main" id="{696F7D9F-F1AC-BD05-97F7-2341BE45D8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418679" y="5069014"/>
                        <a:ext cx="526812" cy="376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7686F06F-586D-DC6E-46FB-39C85E8D71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566206"/>
              </p:ext>
            </p:extLst>
          </p:nvPr>
        </p:nvGraphicFramePr>
        <p:xfrm>
          <a:off x="8118391" y="5636394"/>
          <a:ext cx="1520345" cy="43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04922" imgH="314291" progId="Equation.DSMT4">
                  <p:embed/>
                </p:oleObj>
              </mc:Choice>
              <mc:Fallback>
                <p:oleObj name="Equation" r:id="rId18" imgW="1104922" imgH="314291" progId="Equation.DSMT4">
                  <p:embed/>
                  <p:pic>
                    <p:nvPicPr>
                      <p:cNvPr id="17" name="物件 16">
                        <a:extLst>
                          <a:ext uri="{FF2B5EF4-FFF2-40B4-BE49-F238E27FC236}">
                            <a16:creationId xmlns:a16="http://schemas.microsoft.com/office/drawing/2014/main" id="{3BE71DD9-B84B-2592-0813-A77D733834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118391" y="5636394"/>
                        <a:ext cx="1520345" cy="432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5632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4241A7C-8FB2-140A-E1CE-75E59C795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25236"/>
            <a:ext cx="9144000" cy="4232564"/>
          </a:xfrm>
        </p:spPr>
        <p:txBody>
          <a:bodyPr/>
          <a:lstStyle/>
          <a:p>
            <a:pPr algn="l"/>
            <a:r>
              <a:rPr lang="en-US" altLang="zh-TW" dirty="0"/>
              <a:t>	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states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                                  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是參考軌跡的第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階導數</a:t>
            </a:r>
            <a:endParaRPr lang="en-US" altLang="zh-TW" sz="1800" dirty="0">
              <a:effectLst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                                                                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，表示系統狀態與參考值之間的差異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EB448731-9D9B-2B4D-88A0-C11927328C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081812"/>
              </p:ext>
            </p:extLst>
          </p:nvPr>
        </p:nvGraphicFramePr>
        <p:xfrm>
          <a:off x="4106300" y="1489868"/>
          <a:ext cx="3979400" cy="495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9999" imgH="399974" progId="Equation.DSMT4">
                  <p:embed/>
                </p:oleObj>
              </mc:Choice>
              <mc:Fallback>
                <p:oleObj name="Equation" r:id="rId2" imgW="3209999" imgH="3999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06300" y="1489868"/>
                        <a:ext cx="3979400" cy="495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56DFCB-9835-2764-F61C-367D13FC4210}"/>
              </a:ext>
            </a:extLst>
          </p:cNvPr>
          <p:cNvSpPr txBox="1"/>
          <p:nvPr/>
        </p:nvSpPr>
        <p:spPr>
          <a:xfrm>
            <a:off x="4383737" y="0"/>
            <a:ext cx="342452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Description</a:t>
            </a:r>
            <a:endParaRPr lang="zh-TW" altLang="en-US" sz="3200" dirty="0"/>
          </a:p>
          <a:p>
            <a:endParaRPr lang="zh-TW" altLang="en-US" dirty="0"/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391CA7E8-9B7F-82EF-51B7-F03B54301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195845"/>
              </p:ext>
            </p:extLst>
          </p:nvPr>
        </p:nvGraphicFramePr>
        <p:xfrm>
          <a:off x="3992138" y="2736850"/>
          <a:ext cx="4207724" cy="9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19895" imgH="771508" progId="Equation.DSMT4">
                  <p:embed/>
                </p:oleObj>
              </mc:Choice>
              <mc:Fallback>
                <p:oleObj name="Equation" r:id="rId4" imgW="3419895" imgH="77150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2138" y="2736850"/>
                        <a:ext cx="4207724" cy="949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物件 17">
            <a:extLst>
              <a:ext uri="{FF2B5EF4-FFF2-40B4-BE49-F238E27FC236}">
                <a16:creationId xmlns:a16="http://schemas.microsoft.com/office/drawing/2014/main" id="{49425C38-8073-C030-F4AD-2DD1A47B60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980242"/>
              </p:ext>
            </p:extLst>
          </p:nvPr>
        </p:nvGraphicFramePr>
        <p:xfrm>
          <a:off x="3909620" y="4784279"/>
          <a:ext cx="1853610" cy="446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5097" imgH="314291" progId="Equation.DSMT4">
                  <p:embed/>
                </p:oleObj>
              </mc:Choice>
              <mc:Fallback>
                <p:oleObj name="Equation" r:id="rId6" imgW="1305097" imgH="31429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09620" y="4784279"/>
                        <a:ext cx="1853610" cy="446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物件 18">
            <a:extLst>
              <a:ext uri="{FF2B5EF4-FFF2-40B4-BE49-F238E27FC236}">
                <a16:creationId xmlns:a16="http://schemas.microsoft.com/office/drawing/2014/main" id="{F7FBB10A-FAAA-115B-6A59-DA4FEFE93A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272427"/>
              </p:ext>
            </p:extLst>
          </p:nvPr>
        </p:nvGraphicFramePr>
        <p:xfrm>
          <a:off x="3909620" y="4078653"/>
          <a:ext cx="403762" cy="40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1827" imgH="361813" progId="Equation.DSMT4">
                  <p:embed/>
                </p:oleObj>
              </mc:Choice>
              <mc:Fallback>
                <p:oleObj name="Equation" r:id="rId8" imgW="361827" imgH="36181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09620" y="4078653"/>
                        <a:ext cx="403762" cy="403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物件 20">
            <a:extLst>
              <a:ext uri="{FF2B5EF4-FFF2-40B4-BE49-F238E27FC236}">
                <a16:creationId xmlns:a16="http://schemas.microsoft.com/office/drawing/2014/main" id="{588AABEF-652A-A493-F7E9-E2535957D1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536073"/>
              </p:ext>
            </p:extLst>
          </p:nvPr>
        </p:nvGraphicFramePr>
        <p:xfrm>
          <a:off x="5934249" y="4127236"/>
          <a:ext cx="161751" cy="310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489" imgH="219248" progId="Equation.DSMT4">
                  <p:embed/>
                </p:oleObj>
              </mc:Choice>
              <mc:Fallback>
                <p:oleObj name="Equation" r:id="rId10" imgW="114489" imgH="21924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34249" y="4127236"/>
                        <a:ext cx="161751" cy="310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4902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024A2D1-F6A8-0CB4-7004-006B77EE2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61774"/>
            <a:ext cx="9144000" cy="5640626"/>
          </a:xfrm>
        </p:spPr>
        <p:txBody>
          <a:bodyPr>
            <a:normAutofit/>
          </a:bodyPr>
          <a:lstStyle/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Logic Systems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權重函數    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輸出函數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         ：</a:t>
            </a:r>
            <a:endParaRPr lang="en-US" altLang="zh-TW" sz="1800" dirty="0">
              <a:effectLst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  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                                             是         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zh-TW" altLang="en-US" sz="1800" kern="100" dirty="0">
                <a:effectLst/>
                <a:latin typeface="Aptos" panose="020B000402020202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</a:t>
            </a:r>
            <a:r>
              <a:rPr lang="zh-TW" altLang="zh-TW" sz="1800" kern="100" dirty="0">
                <a:effectLst/>
                <a:latin typeface="Aptos" panose="020B000402020202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的模糊隸屬度函數</a:t>
            </a:r>
            <a:endParaRPr lang="zh-TW" altLang="zh-TW" sz="1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B9B5BCC-D84D-A91A-72F6-FD9AABE555A2}"/>
              </a:ext>
            </a:extLst>
          </p:cNvPr>
          <p:cNvSpPr txBox="1"/>
          <p:nvPr/>
        </p:nvSpPr>
        <p:spPr>
          <a:xfrm>
            <a:off x="4387273" y="0"/>
            <a:ext cx="34174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Description</a:t>
            </a:r>
            <a:endParaRPr lang="zh-TW" altLang="en-US" sz="3200" dirty="0"/>
          </a:p>
          <a:p>
            <a:endParaRPr lang="zh-TW" altLang="en-US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8C3537FF-CDC8-4708-FEF8-A185D9B5D7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069699"/>
              </p:ext>
            </p:extLst>
          </p:nvPr>
        </p:nvGraphicFramePr>
        <p:xfrm>
          <a:off x="3181108" y="1389194"/>
          <a:ext cx="5413375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03440" imgH="241200" progId="Equation.DSMT4">
                  <p:embed/>
                </p:oleObj>
              </mc:Choice>
              <mc:Fallback>
                <p:oleObj name="Equation" r:id="rId2" imgW="3403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81108" y="1389194"/>
                        <a:ext cx="5413375" cy="382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635E2C16-363C-7ACC-0E04-6DC77EC775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398117"/>
              </p:ext>
            </p:extLst>
          </p:nvPr>
        </p:nvGraphicFramePr>
        <p:xfrm>
          <a:off x="3174734" y="3070867"/>
          <a:ext cx="2669718" cy="974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659" imgH="876271" progId="Equation.DSMT4">
                  <p:embed/>
                </p:oleObj>
              </mc:Choice>
              <mc:Fallback>
                <p:oleObj name="Equation" r:id="rId4" imgW="2400659" imgH="8762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4734" y="3070867"/>
                        <a:ext cx="2669718" cy="974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9BF47E8A-7A11-DD7D-AD3E-BC21401712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591836"/>
              </p:ext>
            </p:extLst>
          </p:nvPr>
        </p:nvGraphicFramePr>
        <p:xfrm>
          <a:off x="3181108" y="4925741"/>
          <a:ext cx="3481495" cy="938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33859" imgH="790588" progId="Equation.DSMT4">
                  <p:embed/>
                </p:oleObj>
              </mc:Choice>
              <mc:Fallback>
                <p:oleObj name="Equation" r:id="rId6" imgW="2933859" imgH="79058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81108" y="4925741"/>
                        <a:ext cx="3481495" cy="938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物件 19">
            <a:extLst>
              <a:ext uri="{FF2B5EF4-FFF2-40B4-BE49-F238E27FC236}">
                <a16:creationId xmlns:a16="http://schemas.microsoft.com/office/drawing/2014/main" id="{00B4CAF9-98E4-E6AD-1E24-9DB5EC926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68866"/>
              </p:ext>
            </p:extLst>
          </p:nvPr>
        </p:nvGraphicFramePr>
        <p:xfrm>
          <a:off x="2553035" y="2728818"/>
          <a:ext cx="496454" cy="330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34" imgH="304931" progId="Equation.DSMT4">
                  <p:embed/>
                </p:oleObj>
              </mc:Choice>
              <mc:Fallback>
                <p:oleObj name="Equation" r:id="rId8" imgW="457234" imgH="30493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53035" y="2728818"/>
                        <a:ext cx="496454" cy="3309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物件 24">
            <a:extLst>
              <a:ext uri="{FF2B5EF4-FFF2-40B4-BE49-F238E27FC236}">
                <a16:creationId xmlns:a16="http://schemas.microsoft.com/office/drawing/2014/main" id="{050B0A69-40A0-C115-9736-F37DBF01EB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352258"/>
              </p:ext>
            </p:extLst>
          </p:nvPr>
        </p:nvGraphicFramePr>
        <p:xfrm>
          <a:off x="2553035" y="4240647"/>
          <a:ext cx="467303" cy="294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8153" imgH="276130" progId="Equation.DSMT4">
                  <p:embed/>
                </p:oleObj>
              </mc:Choice>
              <mc:Fallback>
                <p:oleObj name="Equation" r:id="rId10" imgW="438153" imgH="2761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53035" y="4240647"/>
                        <a:ext cx="467303" cy="294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物件 25">
            <a:extLst>
              <a:ext uri="{FF2B5EF4-FFF2-40B4-BE49-F238E27FC236}">
                <a16:creationId xmlns:a16="http://schemas.microsoft.com/office/drawing/2014/main" id="{7D5FFAA6-70F1-EB4F-E1DD-8742FF2052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70954"/>
              </p:ext>
            </p:extLst>
          </p:nvPr>
        </p:nvGraphicFramePr>
        <p:xfrm>
          <a:off x="7647708" y="3210197"/>
          <a:ext cx="2371123" cy="736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14798" imgH="657384" progId="Equation.DSMT4">
                  <p:embed/>
                </p:oleObj>
              </mc:Choice>
              <mc:Fallback>
                <p:oleObj name="Equation" r:id="rId12" imgW="2114798" imgH="6573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47708" y="3210197"/>
                        <a:ext cx="2371123" cy="736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物件 26">
            <a:extLst>
              <a:ext uri="{FF2B5EF4-FFF2-40B4-BE49-F238E27FC236}">
                <a16:creationId xmlns:a16="http://schemas.microsoft.com/office/drawing/2014/main" id="{2D24F63E-2F0A-C52A-F894-D37F582E3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412689"/>
              </p:ext>
            </p:extLst>
          </p:nvPr>
        </p:nvGraphicFramePr>
        <p:xfrm>
          <a:off x="7647708" y="4946270"/>
          <a:ext cx="2013528" cy="439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71877" imgH="343092" progId="Equation.DSMT4">
                  <p:embed/>
                </p:oleObj>
              </mc:Choice>
              <mc:Fallback>
                <p:oleObj name="Equation" r:id="rId14" imgW="1571877" imgH="34309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647708" y="4946270"/>
                        <a:ext cx="2013528" cy="439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物件 27">
            <a:extLst>
              <a:ext uri="{FF2B5EF4-FFF2-40B4-BE49-F238E27FC236}">
                <a16:creationId xmlns:a16="http://schemas.microsoft.com/office/drawing/2014/main" id="{B3F97EBC-B23B-880B-A3FF-3D8CD75F9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731531"/>
              </p:ext>
            </p:extLst>
          </p:nvPr>
        </p:nvGraphicFramePr>
        <p:xfrm>
          <a:off x="9843864" y="4958714"/>
          <a:ext cx="1082754" cy="364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5108" imgH="304931" progId="Equation.DSMT4">
                  <p:embed/>
                </p:oleObj>
              </mc:Choice>
              <mc:Fallback>
                <p:oleObj name="Equation" r:id="rId16" imgW="905108" imgH="30493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843864" y="4958714"/>
                        <a:ext cx="1082754" cy="364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物件 30">
            <a:extLst>
              <a:ext uri="{FF2B5EF4-FFF2-40B4-BE49-F238E27FC236}">
                <a16:creationId xmlns:a16="http://schemas.microsoft.com/office/drawing/2014/main" id="{5E05F61B-FD22-CE65-C341-26C0D7F01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719656"/>
              </p:ext>
            </p:extLst>
          </p:nvPr>
        </p:nvGraphicFramePr>
        <p:xfrm>
          <a:off x="7647707" y="5965584"/>
          <a:ext cx="1671784" cy="465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04912" imgH="419055" progId="Equation.DSMT4">
                  <p:embed/>
                </p:oleObj>
              </mc:Choice>
              <mc:Fallback>
                <p:oleObj name="Equation" r:id="rId18" imgW="1504912" imgH="41905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647707" y="5965584"/>
                        <a:ext cx="1671784" cy="465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4981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251869FE-2583-6E17-337E-512930FAC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32872"/>
            <a:ext cx="9144000" cy="5925128"/>
          </a:xfrm>
        </p:spPr>
        <p:txBody>
          <a:bodyPr>
            <a:normAutofit/>
          </a:bodyPr>
          <a:lstStyle/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Desired error trajectory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初始條件：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59410" algn="l">
              <a:lnSpc>
                <a:spcPct val="115000"/>
              </a:lnSpc>
              <a:spcAft>
                <a:spcPts val="800"/>
              </a:spcAft>
              <a:tabLst>
                <a:tab pos="2641600" algn="ctr"/>
                <a:tab pos="5270500" algn="r"/>
              </a:tabLst>
            </a:pPr>
            <a:r>
              <a:rPr lang="zh-TW" altLang="en-US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    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終止條件：</a:t>
            </a:r>
          </a:p>
          <a:p>
            <a:pPr algn="l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A3ACCF0-149D-56B7-241D-39554442F315}"/>
              </a:ext>
            </a:extLst>
          </p:cNvPr>
          <p:cNvSpPr txBox="1"/>
          <p:nvPr/>
        </p:nvSpPr>
        <p:spPr>
          <a:xfrm>
            <a:off x="4682836" y="0"/>
            <a:ext cx="2826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2742D3CB-ECE2-9B14-34B5-3B973AD7B8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565197"/>
              </p:ext>
            </p:extLst>
          </p:nvPr>
        </p:nvGraphicFramePr>
        <p:xfrm>
          <a:off x="4695825" y="1358900"/>
          <a:ext cx="2732088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761760" progId="Equation.DSMT4">
                  <p:embed/>
                </p:oleObj>
              </mc:Choice>
              <mc:Fallback>
                <p:oleObj name="Equation" r:id="rId2" imgW="175248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95825" y="1358900"/>
                        <a:ext cx="2732088" cy="1187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8CC9F780-D921-41B1-7EA2-B7DD23C24A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408759"/>
              </p:ext>
            </p:extLst>
          </p:nvPr>
        </p:nvGraphicFramePr>
        <p:xfrm>
          <a:off x="4682836" y="2846534"/>
          <a:ext cx="1782619" cy="40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3260" imgH="304931" progId="Equation.DSMT4">
                  <p:embed/>
                </p:oleObj>
              </mc:Choice>
              <mc:Fallback>
                <p:oleObj name="Equation" r:id="rId4" imgW="1343260" imgH="30493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82836" y="2846534"/>
                        <a:ext cx="1782619" cy="4045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7FFB4B8E-BB26-6F0A-76C7-7299096D1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271626"/>
              </p:ext>
            </p:extLst>
          </p:nvPr>
        </p:nvGraphicFramePr>
        <p:xfrm>
          <a:off x="4682836" y="3911715"/>
          <a:ext cx="2745077" cy="807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29101" imgH="714266" progId="Equation.DSMT4">
                  <p:embed/>
                </p:oleObj>
              </mc:Choice>
              <mc:Fallback>
                <p:oleObj name="Equation" r:id="rId6" imgW="2429101" imgH="7142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82836" y="3911715"/>
                        <a:ext cx="2745077" cy="807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物件 14">
            <a:extLst>
              <a:ext uri="{FF2B5EF4-FFF2-40B4-BE49-F238E27FC236}">
                <a16:creationId xmlns:a16="http://schemas.microsoft.com/office/drawing/2014/main" id="{F93CDA18-3662-12B7-AF1B-C2BFDE9F0B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940834"/>
              </p:ext>
            </p:extLst>
          </p:nvPr>
        </p:nvGraphicFramePr>
        <p:xfrm>
          <a:off x="4682836" y="5499100"/>
          <a:ext cx="3066473" cy="408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05427" imgH="333372" progId="Equation.DSMT4">
                  <p:embed/>
                </p:oleObj>
              </mc:Choice>
              <mc:Fallback>
                <p:oleObj name="Equation" r:id="rId8" imgW="2505427" imgH="33337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82836" y="5499100"/>
                        <a:ext cx="3066473" cy="408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9578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194723C3-C174-1ED9-26B6-3E5F4173B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3652" y="1810326"/>
            <a:ext cx="9144000" cy="3447473"/>
          </a:xfrm>
        </p:spPr>
        <p:txBody>
          <a:bodyPr>
            <a:normAutofit/>
          </a:bodyPr>
          <a:lstStyle/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是平滑函數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D0BA3FE0-D63D-5205-74F5-151D72395F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352532"/>
              </p:ext>
            </p:extLst>
          </p:nvPr>
        </p:nvGraphicFramePr>
        <p:xfrm>
          <a:off x="1524000" y="947954"/>
          <a:ext cx="2819034" cy="652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9101" imgH="561980" progId="Equation.DSMT4">
                  <p:embed/>
                </p:oleObj>
              </mc:Choice>
              <mc:Fallback>
                <p:oleObj name="Equation" r:id="rId2" imgW="2429101" imgH="5619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947954"/>
                        <a:ext cx="2819034" cy="652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E7293D5-3FD5-E80D-E13F-82A9ABB384C7}"/>
              </a:ext>
            </a:extLst>
          </p:cNvPr>
          <p:cNvSpPr txBox="1"/>
          <p:nvPr/>
        </p:nvSpPr>
        <p:spPr>
          <a:xfrm>
            <a:off x="4682835" y="0"/>
            <a:ext cx="28263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7B441869-DC66-AA6E-60C8-20B76A027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445421"/>
              </p:ext>
            </p:extLst>
          </p:nvPr>
        </p:nvGraphicFramePr>
        <p:xfrm>
          <a:off x="1524000" y="1810326"/>
          <a:ext cx="467972" cy="335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228600" progId="Equation.DSMT4">
                  <p:embed/>
                </p:oleObj>
              </mc:Choice>
              <mc:Fallback>
                <p:oleObj name="Equation" r:id="rId4" imgW="317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4000" y="1810326"/>
                        <a:ext cx="467972" cy="3357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5DF31614-C247-898D-D988-3C6B97DA5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856021"/>
              </p:ext>
            </p:extLst>
          </p:nvPr>
        </p:nvGraphicFramePr>
        <p:xfrm>
          <a:off x="1524000" y="2531324"/>
          <a:ext cx="3528291" cy="367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19545" imgH="314291" progId="Equation.DSMT4">
                  <p:embed/>
                </p:oleObj>
              </mc:Choice>
              <mc:Fallback>
                <p:oleObj name="Equation" r:id="rId6" imgW="3019545" imgH="31429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24000" y="2531324"/>
                        <a:ext cx="3528291" cy="367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2F370FF8-606B-1DD5-9682-4B369872B6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854222"/>
              </p:ext>
            </p:extLst>
          </p:nvPr>
        </p:nvGraphicFramePr>
        <p:xfrm>
          <a:off x="1524000" y="3187302"/>
          <a:ext cx="988291" cy="573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631" imgH="552620" progId="Equation.DSMT4">
                  <p:embed/>
                </p:oleObj>
              </mc:Choice>
              <mc:Fallback>
                <p:oleObj name="Equation" r:id="rId8" imgW="952631" imgH="5526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4000" y="3187302"/>
                        <a:ext cx="988291" cy="573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D4748A95-4780-F387-289B-44D861ED6F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387380"/>
              </p:ext>
            </p:extLst>
          </p:nvPr>
        </p:nvGraphicFramePr>
        <p:xfrm>
          <a:off x="1524000" y="4124173"/>
          <a:ext cx="2660073" cy="635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52776" imgH="561980" progId="Equation.DSMT4">
                  <p:embed/>
                </p:oleObj>
              </mc:Choice>
              <mc:Fallback>
                <p:oleObj name="Equation" r:id="rId10" imgW="2352776" imgH="5619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24000" y="4124173"/>
                        <a:ext cx="2660073" cy="635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物件 14">
            <a:extLst>
              <a:ext uri="{FF2B5EF4-FFF2-40B4-BE49-F238E27FC236}">
                <a16:creationId xmlns:a16="http://schemas.microsoft.com/office/drawing/2014/main" id="{F3B55497-B6B3-1069-ED4A-9A5BA0B750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113469"/>
              </p:ext>
            </p:extLst>
          </p:nvPr>
        </p:nvGraphicFramePr>
        <p:xfrm>
          <a:off x="6884339" y="1053090"/>
          <a:ext cx="3183298" cy="710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92533" imgH="757467" progId="Equation.DSMT4">
                  <p:embed/>
                </p:oleObj>
              </mc:Choice>
              <mc:Fallback>
                <p:oleObj name="Equation" r:id="rId12" imgW="3392533" imgH="757467" progId="Equation.DSMT4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9B9C6BD2-9CDF-D280-22A0-C84847B094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84339" y="1053090"/>
                        <a:ext cx="3183298" cy="710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物件 15">
            <a:extLst>
              <a:ext uri="{FF2B5EF4-FFF2-40B4-BE49-F238E27FC236}">
                <a16:creationId xmlns:a16="http://schemas.microsoft.com/office/drawing/2014/main" id="{B69C4D37-486C-08FA-B8FD-CC9B729681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590270"/>
              </p:ext>
            </p:extLst>
          </p:nvPr>
        </p:nvGraphicFramePr>
        <p:xfrm>
          <a:off x="6884338" y="2415521"/>
          <a:ext cx="4571626" cy="598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362805" imgH="571701" progId="Equation.DSMT4">
                  <p:embed/>
                </p:oleObj>
              </mc:Choice>
              <mc:Fallback>
                <p:oleObj name="Equation" r:id="rId14" imgW="4362805" imgH="571701" progId="Equation.DSMT4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C7E5C816-B335-8BE9-42EC-F2189272DE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84338" y="2415521"/>
                        <a:ext cx="4571626" cy="598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物件 16">
            <a:extLst>
              <a:ext uri="{FF2B5EF4-FFF2-40B4-BE49-F238E27FC236}">
                <a16:creationId xmlns:a16="http://schemas.microsoft.com/office/drawing/2014/main" id="{12CB0E3F-5A7B-6648-2CB2-FB8E3E1D66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751286"/>
              </p:ext>
            </p:extLst>
          </p:nvPr>
        </p:nvGraphicFramePr>
        <p:xfrm>
          <a:off x="6884338" y="3429000"/>
          <a:ext cx="4890661" cy="2676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924000" imgH="2145960" progId="Equation.DSMT4">
                  <p:embed/>
                </p:oleObj>
              </mc:Choice>
              <mc:Fallback>
                <p:oleObj name="Equation" r:id="rId16" imgW="3924000" imgH="2145960" progId="Equation.DSMT4">
                  <p:embed/>
                  <p:pic>
                    <p:nvPicPr>
                      <p:cNvPr id="4" name="物件 3">
                        <a:extLst>
                          <a:ext uri="{FF2B5EF4-FFF2-40B4-BE49-F238E27FC236}">
                            <a16:creationId xmlns:a16="http://schemas.microsoft.com/office/drawing/2014/main" id="{C2A37192-DE39-8240-01AB-9629E6664D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84338" y="3429000"/>
                        <a:ext cx="4890661" cy="2676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670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847D9AF6-FA65-6732-18DD-B2CC1909A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49745"/>
            <a:ext cx="9144000" cy="4408055"/>
          </a:xfrm>
        </p:spPr>
        <p:txBody>
          <a:bodyPr>
            <a:normAutofit/>
          </a:bodyPr>
          <a:lstStyle/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rewrite by matrix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Cramer principle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D664BDD-266B-4F75-0EF9-8F146DA32441}"/>
              </a:ext>
            </a:extLst>
          </p:cNvPr>
          <p:cNvSpPr txBox="1"/>
          <p:nvPr/>
        </p:nvSpPr>
        <p:spPr>
          <a:xfrm>
            <a:off x="4687454" y="0"/>
            <a:ext cx="2817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1E1A0B94-714E-9225-FCDC-A164C21C5D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450447"/>
              </p:ext>
            </p:extLst>
          </p:nvPr>
        </p:nvGraphicFramePr>
        <p:xfrm>
          <a:off x="1649413" y="1396422"/>
          <a:ext cx="3609975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10349" imgH="1657500" progId="Equation.DSMT4">
                  <p:embed/>
                </p:oleObj>
              </mc:Choice>
              <mc:Fallback>
                <p:oleObj name="Equation" r:id="rId2" imgW="3610349" imgH="16575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49413" y="1396422"/>
                        <a:ext cx="3609975" cy="165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EC10ABE7-B292-ED3A-D54E-0F649FD368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932862"/>
              </p:ext>
            </p:extLst>
          </p:nvPr>
        </p:nvGraphicFramePr>
        <p:xfrm>
          <a:off x="1649413" y="4109278"/>
          <a:ext cx="2876406" cy="538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52940" imgH="552620" progId="Equation.DSMT4">
                  <p:embed/>
                </p:oleObj>
              </mc:Choice>
              <mc:Fallback>
                <p:oleObj name="Equation" r:id="rId4" imgW="2952940" imgH="5526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49413" y="4109278"/>
                        <a:ext cx="2876406" cy="5381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5E3E0EEC-F623-2827-394A-3DEE9E1CA1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212486"/>
              </p:ext>
            </p:extLst>
          </p:nvPr>
        </p:nvGraphicFramePr>
        <p:xfrm>
          <a:off x="6932614" y="1396422"/>
          <a:ext cx="3063586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86500" imgH="1886108" progId="Equation.DSMT4">
                  <p:embed/>
                </p:oleObj>
              </mc:Choice>
              <mc:Fallback>
                <p:oleObj name="Equation" r:id="rId6" imgW="3486500" imgH="188610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32614" y="1396422"/>
                        <a:ext cx="3063586" cy="165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02923B49-F48D-764B-3180-0D7C4E02C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385028"/>
              </p:ext>
            </p:extLst>
          </p:nvPr>
        </p:nvGraphicFramePr>
        <p:xfrm>
          <a:off x="6909810" y="3364020"/>
          <a:ext cx="3632777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34188" imgH="1886108" progId="Equation.DSMT4">
                  <p:embed/>
                </p:oleObj>
              </mc:Choice>
              <mc:Fallback>
                <p:oleObj name="Equation" r:id="rId8" imgW="4134188" imgH="188610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09810" y="3364020"/>
                        <a:ext cx="3632777" cy="165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C349D5C5-26CA-C302-D1A8-63EA6EC2C7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06358"/>
              </p:ext>
            </p:extLst>
          </p:nvPr>
        </p:nvGraphicFramePr>
        <p:xfrm>
          <a:off x="2339433" y="5804477"/>
          <a:ext cx="7513132" cy="632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40200" imgH="482400" progId="Equation.DSMT4">
                  <p:embed/>
                </p:oleObj>
              </mc:Choice>
              <mc:Fallback>
                <p:oleObj name="Equation" r:id="rId10" imgW="57402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39433" y="5804477"/>
                        <a:ext cx="7513132" cy="6321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45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AC90AC72-2816-4D4F-125B-C47310692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42109"/>
            <a:ext cx="9144000" cy="4315691"/>
          </a:xfrm>
        </p:spPr>
        <p:txBody>
          <a:bodyPr>
            <a:normAutofit/>
          </a:bodyPr>
          <a:lstStyle/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first-order system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second-order system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ED7F47C-A23C-0E91-09E5-26DD019A229F}"/>
              </a:ext>
            </a:extLst>
          </p:cNvPr>
          <p:cNvSpPr txBox="1"/>
          <p:nvPr/>
        </p:nvSpPr>
        <p:spPr>
          <a:xfrm>
            <a:off x="4678218" y="0"/>
            <a:ext cx="2835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510663FA-EFEF-DB68-B27C-834C68AD37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580974"/>
              </p:ext>
            </p:extLst>
          </p:nvPr>
        </p:nvGraphicFramePr>
        <p:xfrm>
          <a:off x="4178840" y="1888548"/>
          <a:ext cx="3834319" cy="743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86500" imgH="676464" progId="Equation.DSMT4">
                  <p:embed/>
                </p:oleObj>
              </mc:Choice>
              <mc:Fallback>
                <p:oleObj name="Equation" r:id="rId2" imgW="3486500" imgH="67646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78840" y="1888548"/>
                        <a:ext cx="3834319" cy="743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5FE01424-D214-BD23-9227-4AD75392F7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021645"/>
              </p:ext>
            </p:extLst>
          </p:nvPr>
        </p:nvGraphicFramePr>
        <p:xfrm>
          <a:off x="2980596" y="3853729"/>
          <a:ext cx="6230806" cy="743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05891" imgH="657384" progId="Equation.DSMT4">
                  <p:embed/>
                </p:oleObj>
              </mc:Choice>
              <mc:Fallback>
                <p:oleObj name="Equation" r:id="rId4" imgW="5505891" imgH="6573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0596" y="3853729"/>
                        <a:ext cx="6230806" cy="743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581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1EF333EE-FE1B-5439-D3E8-62BFDD49D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68218"/>
            <a:ext cx="9144000" cy="4389582"/>
          </a:xfrm>
        </p:spPr>
        <p:txBody>
          <a:bodyPr>
            <a:normAutofit/>
          </a:bodyPr>
          <a:lstStyle/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of error variable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                                              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variable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090D4A4-1CDE-B512-1C3D-A8B80B3E720C}"/>
              </a:ext>
            </a:extLst>
          </p:cNvPr>
          <p:cNvSpPr txBox="1"/>
          <p:nvPr/>
        </p:nvSpPr>
        <p:spPr>
          <a:xfrm>
            <a:off x="4530436" y="0"/>
            <a:ext cx="3131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Design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E86CFC53-ACEF-AADE-E146-223C3F664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629949"/>
              </p:ext>
            </p:extLst>
          </p:nvPr>
        </p:nvGraphicFramePr>
        <p:xfrm>
          <a:off x="1524000" y="1391354"/>
          <a:ext cx="3251200" cy="461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52940" imgH="419055" progId="Equation.DSMT4">
                  <p:embed/>
                </p:oleObj>
              </mc:Choice>
              <mc:Fallback>
                <p:oleObj name="Equation" r:id="rId2" imgW="2952940" imgH="41905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1391354"/>
                        <a:ext cx="3251200" cy="461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0B3B770E-419F-3753-0ADA-D968F6B15F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907764"/>
              </p:ext>
            </p:extLst>
          </p:nvPr>
        </p:nvGraphicFramePr>
        <p:xfrm>
          <a:off x="1524000" y="2254451"/>
          <a:ext cx="4572000" cy="916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38781" imgH="809669" progId="Equation.DSMT4">
                  <p:embed/>
                </p:oleObj>
              </mc:Choice>
              <mc:Fallback>
                <p:oleObj name="Equation" r:id="rId4" imgW="4038781" imgH="80966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4000" y="2254451"/>
                        <a:ext cx="4572000" cy="9165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530110CC-673B-E6DA-96A4-396B1CDA8F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133319"/>
              </p:ext>
            </p:extLst>
          </p:nvPr>
        </p:nvGraphicFramePr>
        <p:xfrm>
          <a:off x="1524000" y="3572645"/>
          <a:ext cx="1348510" cy="389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9411" imgH="352453" progId="Equation.DSMT4">
                  <p:embed/>
                </p:oleObj>
              </mc:Choice>
              <mc:Fallback>
                <p:oleObj name="Equation" r:id="rId6" imgW="1219411" imgH="35245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24000" y="3572645"/>
                        <a:ext cx="1348510" cy="3898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722B9C21-F9DA-AEC8-1AAD-E87191213B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567654"/>
              </p:ext>
            </p:extLst>
          </p:nvPr>
        </p:nvGraphicFramePr>
        <p:xfrm>
          <a:off x="6764482" y="1391354"/>
          <a:ext cx="3497118" cy="786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9256" imgH="771508" progId="Equation.DSMT4">
                  <p:embed/>
                </p:oleObj>
              </mc:Choice>
              <mc:Fallback>
                <p:oleObj name="Equation" r:id="rId8" imgW="3429256" imgH="77150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64482" y="1391354"/>
                        <a:ext cx="3497118" cy="7868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94C0621E-0396-A53F-9AD6-BF8FB91B60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678101"/>
              </p:ext>
            </p:extLst>
          </p:nvPr>
        </p:nvGraphicFramePr>
        <p:xfrm>
          <a:off x="6764482" y="2469367"/>
          <a:ext cx="1991591" cy="794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0774" imgH="714266" progId="Equation.DSMT4">
                  <p:embed/>
                </p:oleObj>
              </mc:Choice>
              <mc:Fallback>
                <p:oleObj name="Equation" r:id="rId10" imgW="1790774" imgH="7142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64482" y="2469367"/>
                        <a:ext cx="1991591" cy="794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1734382A-946C-5D22-C90E-658ED5B11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141948"/>
              </p:ext>
            </p:extLst>
          </p:nvPr>
        </p:nvGraphicFramePr>
        <p:xfrm>
          <a:off x="6764482" y="3660306"/>
          <a:ext cx="429577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296200" imgH="1162122" progId="Equation.DSMT4">
                  <p:embed/>
                </p:oleObj>
              </mc:Choice>
              <mc:Fallback>
                <p:oleObj name="Equation" r:id="rId12" imgW="4296200" imgH="116212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764482" y="3660306"/>
                        <a:ext cx="4295775" cy="1162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39B08A7C-F265-A830-F57E-4F36521E69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378848"/>
              </p:ext>
            </p:extLst>
          </p:nvPr>
        </p:nvGraphicFramePr>
        <p:xfrm>
          <a:off x="6764483" y="5142146"/>
          <a:ext cx="3099954" cy="386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76800" imgH="333372" progId="Equation.DSMT4">
                  <p:embed/>
                </p:oleObj>
              </mc:Choice>
              <mc:Fallback>
                <p:oleObj name="Equation" r:id="rId14" imgW="2676800" imgH="33337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64483" y="5142146"/>
                        <a:ext cx="3099954" cy="386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18221251-E152-D4D8-67F5-DC55784D7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408290"/>
              </p:ext>
            </p:extLst>
          </p:nvPr>
        </p:nvGraphicFramePr>
        <p:xfrm>
          <a:off x="6764482" y="5818332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48028" imgH="343092" progId="Equation.DSMT4">
                  <p:embed/>
                </p:oleObj>
              </mc:Choice>
              <mc:Fallback>
                <p:oleObj name="Equation" r:id="rId16" imgW="1448028" imgH="34309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64482" y="5818332"/>
                        <a:ext cx="1447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2204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68724018-9689-6A25-CFB5-A139CCC20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42109"/>
            <a:ext cx="9144000" cy="5913582"/>
          </a:xfrm>
        </p:spPr>
        <p:txBody>
          <a:bodyPr>
            <a:normAutofit/>
          </a:bodyPr>
          <a:lstStyle/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learning law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error constant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                                                  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function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weight vector learning law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</a:p>
          <a:p>
            <a:pPr algn="l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deviation term learning law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5D45AD-BE93-1870-ECE1-B70DBA22A414}"/>
              </a:ext>
            </a:extLst>
          </p:cNvPr>
          <p:cNvSpPr txBox="1"/>
          <p:nvPr/>
        </p:nvSpPr>
        <p:spPr>
          <a:xfrm>
            <a:off x="4525818" y="2309"/>
            <a:ext cx="3140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Design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0E7ECAA0-93F5-9ADD-A8EF-CCCD165BF2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862943"/>
              </p:ext>
            </p:extLst>
          </p:nvPr>
        </p:nvGraphicFramePr>
        <p:xfrm>
          <a:off x="4043417" y="1369002"/>
          <a:ext cx="4105165" cy="462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67419" imgH="390614" progId="Equation.DSMT4">
                  <p:embed/>
                </p:oleObj>
              </mc:Choice>
              <mc:Fallback>
                <p:oleObj name="Equation" r:id="rId2" imgW="3467419" imgH="39061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43417" y="1369002"/>
                        <a:ext cx="4105165" cy="462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B58F74E7-0182-1951-C7A2-01C0F04734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505535"/>
              </p:ext>
            </p:extLst>
          </p:nvPr>
        </p:nvGraphicFramePr>
        <p:xfrm>
          <a:off x="2619917" y="2976039"/>
          <a:ext cx="2846999" cy="685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5531" imgH="552620" progId="Equation.DSMT4">
                  <p:embed/>
                </p:oleObj>
              </mc:Choice>
              <mc:Fallback>
                <p:oleObj name="Equation" r:id="rId4" imgW="2295531" imgH="5526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19917" y="2976039"/>
                        <a:ext cx="2846999" cy="685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FDE9499D-7710-0692-F92C-2B0012927D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062193"/>
              </p:ext>
            </p:extLst>
          </p:nvPr>
        </p:nvGraphicFramePr>
        <p:xfrm>
          <a:off x="7090662" y="2976039"/>
          <a:ext cx="3457266" cy="833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08160" imgH="507960" progId="Equation.DSMT4">
                  <p:embed/>
                </p:oleObj>
              </mc:Choice>
              <mc:Fallback>
                <p:oleObj name="Equation" r:id="rId6" imgW="21081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90662" y="2976039"/>
                        <a:ext cx="3457266" cy="8330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B07FD584-71B9-D8A9-5889-2026DD41AD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171871"/>
              </p:ext>
            </p:extLst>
          </p:nvPr>
        </p:nvGraphicFramePr>
        <p:xfrm>
          <a:off x="3920712" y="4812105"/>
          <a:ext cx="4350571" cy="520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43559" imgH="447856" progId="Equation.DSMT4">
                  <p:embed/>
                </p:oleObj>
              </mc:Choice>
              <mc:Fallback>
                <p:oleObj name="Equation" r:id="rId8" imgW="3743559" imgH="44785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20712" y="4812105"/>
                        <a:ext cx="4350571" cy="520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60AE9896-3888-7571-55FD-F5DA3ED13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039855"/>
              </p:ext>
            </p:extLst>
          </p:nvPr>
        </p:nvGraphicFramePr>
        <p:xfrm>
          <a:off x="4072676" y="6233478"/>
          <a:ext cx="4046644" cy="519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86500" imgH="447856" progId="Equation.DSMT4">
                  <p:embed/>
                </p:oleObj>
              </mc:Choice>
              <mc:Fallback>
                <p:oleObj name="Equation" r:id="rId10" imgW="3486500" imgH="44785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72676" y="6233478"/>
                        <a:ext cx="4046644" cy="519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1269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168</Words>
  <Application>Microsoft Office PowerPoint</Application>
  <PresentationFormat>寬螢幕</PresentationFormat>
  <Paragraphs>90</Paragraphs>
  <Slides>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標楷體</vt:lpstr>
      <vt:lpstr>Aptos</vt:lpstr>
      <vt:lpstr>Aptos Display</vt:lpstr>
      <vt:lpstr>Arial</vt:lpstr>
      <vt:lpstr>Times New Roman</vt:lpstr>
      <vt:lpstr>Office 佈景主題</vt:lpstr>
      <vt:lpstr>Equation</vt:lpstr>
      <vt:lpstr>MathType 7.0 Equation</vt:lpstr>
      <vt:lpstr>System Description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王睿讚</dc:creator>
  <cp:lastModifiedBy>王睿讚</cp:lastModifiedBy>
  <cp:revision>3</cp:revision>
  <dcterms:created xsi:type="dcterms:W3CDTF">2024-12-11T07:50:21Z</dcterms:created>
  <dcterms:modified xsi:type="dcterms:W3CDTF">2024-12-12T14:41:33Z</dcterms:modified>
</cp:coreProperties>
</file>