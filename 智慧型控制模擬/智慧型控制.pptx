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031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9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emf"/><Relationship Id="rId7" Type="http://schemas.openxmlformats.org/officeDocument/2006/relationships/image" Target="../media/image33.e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emf"/><Relationship Id="rId5" Type="http://schemas.openxmlformats.org/officeDocument/2006/relationships/image" Target="../media/image31.wmf"/><Relationship Id="rId4" Type="http://schemas.openxmlformats.org/officeDocument/2006/relationships/image" Target="../media/image3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774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482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93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84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32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74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993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24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00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27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229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398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68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706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663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862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46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554956C-8945-4C5A-AB0C-409D78E67563}" type="datetimeFigureOut">
              <a:rPr lang="zh-TW" altLang="en-US" smtClean="0"/>
              <a:t>2025/12/5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165A30A-948F-4E2F-B9BC-C168BDDF1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970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279945500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hyperlink" Target="https://ieeexplore.ieee.org/xpl/RecentIssue.jsp?punumber=91" TargetMode="External"/><Relationship Id="rId4" Type="http://schemas.openxmlformats.org/officeDocument/2006/relationships/hyperlink" Target="https://ieeexplore.ieee.org/author/37085954127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8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30.e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32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3.png"/><Relationship Id="rId4" Type="http://schemas.openxmlformats.org/officeDocument/2006/relationships/image" Target="../media/image42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EF0F72-133E-1BF6-F796-B4CA2CAD9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智慧型控制</a:t>
            </a:r>
            <a:b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期末報告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A2BBF35-9B24-1D6D-E7E1-8E3477F8D6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姓名：王睿讚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373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124" y="3512615"/>
            <a:ext cx="4371549" cy="2660273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593240" y="588388"/>
            <a:ext cx="64328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論文名稱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Fuzzy Iterative Learning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for High-Speed Trains With Both Randomly Varying Operation Lengths and System Constraint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74255" y="2443830"/>
            <a:ext cx="56869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作者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Qiongxia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 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Zhongsheng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dirty="0">
                <a:hlinkClick r:id="rId3"/>
              </a:rPr>
            </a:b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br>
              <a:rPr lang="en-US" altLang="zh-TW" dirty="0">
                <a:hlinkClick r:id="rId4"/>
              </a:rPr>
            </a:b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74255" y="4469955"/>
            <a:ext cx="6408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論文出處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en-US" altLang="zh-TW" sz="2000" b="1" dirty="0"/>
              <a:t> 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IEEE Transactions on Fuzzy Systems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674255" y="5062799"/>
            <a:ext cx="2253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年分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2021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74255" y="5622713"/>
            <a:ext cx="2253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引用次數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72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99CD122-F1BC-47D3-8232-F0AF6BD26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6124" y="672286"/>
            <a:ext cx="4371548" cy="269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0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6CF8FAF-9230-7D04-85EA-A0CDEB1DCF9F}"/>
              </a:ext>
            </a:extLst>
          </p:cNvPr>
          <p:cNvSpPr txBox="1"/>
          <p:nvPr/>
        </p:nvSpPr>
        <p:spPr>
          <a:xfrm>
            <a:off x="5153891" y="563419"/>
            <a:ext cx="1884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摘要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B2B7F18-682F-52F0-EC7A-29DBA546D9FA}"/>
              </a:ext>
            </a:extLst>
          </p:cNvPr>
          <p:cNvSpPr txBox="1"/>
          <p:nvPr/>
        </p:nvSpPr>
        <p:spPr>
          <a:xfrm>
            <a:off x="2697018" y="1477818"/>
            <a:ext cx="67979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　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這篇文章提出了一種新的自適應模糊迭代學習控制（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新細明體" panose="02020500000000000000" pitchFamily="18" charset="-120"/>
              </a:rPr>
              <a:t>AFILC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）方法，主要用於非線性不確定的高速列車（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新細明體" panose="02020500000000000000" pitchFamily="18" charset="-120"/>
              </a:rPr>
              <a:t>HST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）運行系統的跟蹤控制。該系統具有隨機變化的迭代長度和速度輸入係數。</a:t>
            </a:r>
            <a:endParaRPr lang="en-US" altLang="zh-TW" sz="18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　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由於運行環境的複雜性及不確定性，車站終點往往偏離預定時刻表，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新細明體" panose="02020500000000000000" pitchFamily="18" charset="-120"/>
              </a:rPr>
              <a:t>AFILC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方法不僅可以有效跟蹤列車的速度和位置，還能使系統在不同運行次數中達到設定的目標。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9180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A86D203-DC12-BEF1-A3D1-69F4BF6E65FC}"/>
              </a:ext>
            </a:extLst>
          </p:cNvPr>
          <p:cNvSpPr txBox="1"/>
          <p:nvPr/>
        </p:nvSpPr>
        <p:spPr>
          <a:xfrm>
            <a:off x="4387272" y="2844225"/>
            <a:ext cx="3417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問題解析</a:t>
            </a:r>
          </a:p>
        </p:txBody>
      </p:sp>
    </p:spTree>
    <p:extLst>
      <p:ext uri="{BB962C8B-B14F-4D97-AF65-F5344CB8AC3E}">
        <p14:creationId xmlns:p14="http://schemas.microsoft.com/office/powerpoint/2010/main" val="27774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1D66F2C-16A9-59DC-FC71-5562AB0C411D}"/>
              </a:ext>
            </a:extLst>
          </p:cNvPr>
          <p:cNvSpPr txBox="1"/>
          <p:nvPr/>
        </p:nvSpPr>
        <p:spPr>
          <a:xfrm>
            <a:off x="3038763" y="569708"/>
            <a:ext cx="6114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高速列車動態模型</a:t>
            </a: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2D311779-BA09-475D-D157-3901A09137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94931"/>
              </p:ext>
            </p:extLst>
          </p:nvPr>
        </p:nvGraphicFramePr>
        <p:xfrm>
          <a:off x="3785554" y="1768628"/>
          <a:ext cx="4620891" cy="808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5953044" imgH="1041157" progId="Equation.DSMT4">
                  <p:embed/>
                </p:oleObj>
              </mc:Choice>
              <mc:Fallback>
                <p:oleObj name="Equation" r:id="rId3" imgW="5953044" imgH="104115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85554" y="1768628"/>
                        <a:ext cx="4620891" cy="8083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165CCFD-EBC6-1ED0-1C82-BB1DC6DFE9F0}"/>
              </a:ext>
            </a:extLst>
          </p:cNvPr>
          <p:cNvSpPr txBox="1"/>
          <p:nvPr/>
        </p:nvSpPr>
        <p:spPr>
          <a:xfrm>
            <a:off x="2447637" y="3404694"/>
            <a:ext cx="273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基礎阻力：</a:t>
            </a: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86CE0E9B-5C97-1448-1822-3B2DADDCF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646195"/>
              </p:ext>
            </p:extLst>
          </p:nvPr>
        </p:nvGraphicFramePr>
        <p:xfrm>
          <a:off x="3870037" y="3937353"/>
          <a:ext cx="4451925" cy="46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5590137" imgH="588261" progId="Equation.DSMT4">
                  <p:embed/>
                </p:oleObj>
              </mc:Choice>
              <mc:Fallback>
                <p:oleObj name="Equation" r:id="rId5" imgW="5590137" imgH="58826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70037" y="3937353"/>
                        <a:ext cx="4451925" cy="469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350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03441A6-1148-D107-BC5A-B98AAE5335A5}"/>
              </a:ext>
            </a:extLst>
          </p:cNvPr>
          <p:cNvSpPr txBox="1"/>
          <p:nvPr/>
        </p:nvSpPr>
        <p:spPr>
          <a:xfrm>
            <a:off x="3038764" y="567222"/>
            <a:ext cx="6114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模糊系統</a:t>
            </a: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8AE7B232-4ABF-EBC7-3C55-6B1095F79A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531491"/>
              </p:ext>
            </p:extLst>
          </p:nvPr>
        </p:nvGraphicFramePr>
        <p:xfrm>
          <a:off x="2231881" y="3351777"/>
          <a:ext cx="2606660" cy="2093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3520703" imgH="2827182" progId="Equation.DSMT4">
                  <p:embed/>
                </p:oleObj>
              </mc:Choice>
              <mc:Fallback>
                <p:oleObj name="Equation" r:id="rId3" imgW="3520703" imgH="282718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1881" y="3351777"/>
                        <a:ext cx="2606660" cy="20930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9D2C3620-C66C-EDA4-EC8C-B3A231FD17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867393"/>
              </p:ext>
            </p:extLst>
          </p:nvPr>
        </p:nvGraphicFramePr>
        <p:xfrm>
          <a:off x="2231881" y="2113747"/>
          <a:ext cx="3299327" cy="732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4925527" imgH="1092999" progId="Equation.DSMT4">
                  <p:embed/>
                </p:oleObj>
              </mc:Choice>
              <mc:Fallback>
                <p:oleObj name="Equation" r:id="rId5" imgW="4925527" imgH="1092999" progId="Equation.DSMT4">
                  <p:embed/>
                  <p:pic>
                    <p:nvPicPr>
                      <p:cNvPr id="12" name="物件 11">
                        <a:extLst>
                          <a:ext uri="{FF2B5EF4-FFF2-40B4-BE49-F238E27FC236}">
                            <a16:creationId xmlns:a16="http://schemas.microsoft.com/office/drawing/2014/main" id="{25B9C4B0-65A8-3174-2554-46943916F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31881" y="2113747"/>
                        <a:ext cx="3299327" cy="732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0854951-9895-E81E-BA43-8738958F9B20}"/>
              </a:ext>
            </a:extLst>
          </p:cNvPr>
          <p:cNvSpPr txBox="1"/>
          <p:nvPr/>
        </p:nvSpPr>
        <p:spPr>
          <a:xfrm>
            <a:off x="1126836" y="1413139"/>
            <a:ext cx="80263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附加阻力：                             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權重函數：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                                                               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簡化後的</a:t>
            </a:r>
            <a:r>
              <a:rPr lang="zh-TW" altLang="en-US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估計附加阻力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4B03C3CA-8BC5-1624-5926-76C098CCA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862887"/>
              </p:ext>
            </p:extLst>
          </p:nvPr>
        </p:nvGraphicFramePr>
        <p:xfrm>
          <a:off x="6229349" y="3252553"/>
          <a:ext cx="40259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4340484" imgH="879512" progId="Equation.DSMT4">
                  <p:embed/>
                </p:oleObj>
              </mc:Choice>
              <mc:Fallback>
                <p:oleObj name="Equation" r:id="rId7" imgW="4340484" imgH="879512" progId="Equation.DSMT4">
                  <p:embed/>
                  <p:pic>
                    <p:nvPicPr>
                      <p:cNvPr id="4" name="物件 3">
                        <a:extLst>
                          <a:ext uri="{FF2B5EF4-FFF2-40B4-BE49-F238E27FC236}">
                            <a16:creationId xmlns:a16="http://schemas.microsoft.com/office/drawing/2014/main" id="{8F9CC637-6156-5225-E914-B895FFD85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29349" y="3252553"/>
                        <a:ext cx="4025900" cy="81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FFC392BD-9747-2AD2-C3BE-5F5D583A26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968374"/>
              </p:ext>
            </p:extLst>
          </p:nvPr>
        </p:nvGraphicFramePr>
        <p:xfrm>
          <a:off x="6229349" y="2075542"/>
          <a:ext cx="4294910" cy="769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4503576" imgH="806429" progId="Equation.DSMT4">
                  <p:embed/>
                </p:oleObj>
              </mc:Choice>
              <mc:Fallback>
                <p:oleObj name="Equation" r:id="rId9" imgW="4503576" imgH="806429" progId="Equation.DSMT4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CDA06159-480E-0DE9-BAC8-DC7D2F7CD8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29349" y="2075542"/>
                        <a:ext cx="4294910" cy="769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FC841287-32BF-512A-B494-94098C67F7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905580"/>
              </p:ext>
            </p:extLst>
          </p:nvPr>
        </p:nvGraphicFramePr>
        <p:xfrm>
          <a:off x="6229349" y="5169902"/>
          <a:ext cx="3472873" cy="64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1" imgW="3852647" imgH="714986" progId="Equation.DSMT4">
                  <p:embed/>
                </p:oleObj>
              </mc:Choice>
              <mc:Fallback>
                <p:oleObj name="Equation" r:id="rId11" imgW="3852647" imgH="714986" progId="Equation.DSMT4">
                  <p:embed/>
                  <p:pic>
                    <p:nvPicPr>
                      <p:cNvPr id="10" name="物件 9">
                        <a:extLst>
                          <a:ext uri="{FF2B5EF4-FFF2-40B4-BE49-F238E27FC236}">
                            <a16:creationId xmlns:a16="http://schemas.microsoft.com/office/drawing/2014/main" id="{C1E8A259-FE9E-DE83-5B0F-8AEC6835A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29349" y="5169902"/>
                        <a:ext cx="3472873" cy="643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3427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0BE8C3A-969E-E03F-93FC-ADEF08F332D9}"/>
              </a:ext>
            </a:extLst>
          </p:cNvPr>
          <p:cNvSpPr txBox="1"/>
          <p:nvPr/>
        </p:nvSpPr>
        <p:spPr>
          <a:xfrm>
            <a:off x="4091709" y="591128"/>
            <a:ext cx="4008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模糊化後的動態模型</a:t>
            </a:r>
          </a:p>
        </p:txBody>
      </p:sp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576BE75F-F1D7-B823-C9B8-40EE49AEDA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588353"/>
              </p:ext>
            </p:extLst>
          </p:nvPr>
        </p:nvGraphicFramePr>
        <p:xfrm>
          <a:off x="3767484" y="1736435"/>
          <a:ext cx="4657032" cy="78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2924498" imgH="495378" progId="Equation.DSMT4">
                  <p:embed/>
                </p:oleObj>
              </mc:Choice>
              <mc:Fallback>
                <p:oleObj name="Equation" r:id="rId3" imgW="2924498" imgH="49537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67484" y="1736435"/>
                        <a:ext cx="4657032" cy="788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物件 27">
            <a:extLst>
              <a:ext uri="{FF2B5EF4-FFF2-40B4-BE49-F238E27FC236}">
                <a16:creationId xmlns:a16="http://schemas.microsoft.com/office/drawing/2014/main" id="{23A2627C-A668-80C6-1199-2BB610AABA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778710"/>
              </p:ext>
            </p:extLst>
          </p:nvPr>
        </p:nvGraphicFramePr>
        <p:xfrm>
          <a:off x="3767484" y="3381467"/>
          <a:ext cx="6919941" cy="1150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4279680" imgH="711000" progId="Equation.DSMT4">
                  <p:embed/>
                </p:oleObj>
              </mc:Choice>
              <mc:Fallback>
                <p:oleObj name="Equation" r:id="rId5" imgW="42796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67484" y="3381467"/>
                        <a:ext cx="6919941" cy="11509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5640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04538B6C-1370-D5B5-7D9B-C2BFCF583692}"/>
              </a:ext>
            </a:extLst>
          </p:cNvPr>
          <p:cNvSpPr txBox="1"/>
          <p:nvPr/>
        </p:nvSpPr>
        <p:spPr>
          <a:xfrm>
            <a:off x="4174836" y="563418"/>
            <a:ext cx="384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期望狀態向量</a:t>
            </a: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70F03844-0927-C010-A6F0-62DDA131BB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936565"/>
              </p:ext>
            </p:extLst>
          </p:nvPr>
        </p:nvGraphicFramePr>
        <p:xfrm>
          <a:off x="5044642" y="3081229"/>
          <a:ext cx="2102715" cy="859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180800" imgH="482400" progId="Equation.DSMT4">
                  <p:embed/>
                </p:oleObj>
              </mc:Choice>
              <mc:Fallback>
                <p:oleObj name="Equation" r:id="rId3" imgW="11808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4642" y="3081229"/>
                        <a:ext cx="2102715" cy="859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BDD59AD9-8D23-5A8C-9FB6-0FD7A674CF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73823"/>
              </p:ext>
            </p:extLst>
          </p:nvPr>
        </p:nvGraphicFramePr>
        <p:xfrm>
          <a:off x="4838828" y="1607848"/>
          <a:ext cx="2514344" cy="452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1428947" imgH="257049" progId="Equation.DSMT4">
                  <p:embed/>
                </p:oleObj>
              </mc:Choice>
              <mc:Fallback>
                <p:oleObj name="Equation" r:id="rId5" imgW="1428947" imgH="25704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38828" y="1607848"/>
                        <a:ext cx="2514344" cy="452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59DBE4B4-F864-5AD1-A5BD-7451579C62C8}"/>
              </a:ext>
            </a:extLst>
          </p:cNvPr>
          <p:cNvSpPr txBox="1"/>
          <p:nvPr/>
        </p:nvSpPr>
        <p:spPr>
          <a:xfrm>
            <a:off x="2272144" y="2585827"/>
            <a:ext cx="226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狀態向量生成方式：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D5EF34B-9049-B3FB-61BD-D3C7EAF8448E}"/>
              </a:ext>
            </a:extLst>
          </p:cNvPr>
          <p:cNvSpPr txBox="1"/>
          <p:nvPr/>
        </p:nvSpPr>
        <p:spPr>
          <a:xfrm>
            <a:off x="2272144" y="4698402"/>
            <a:ext cx="6114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邊界條件：</a:t>
            </a:r>
            <a:endParaRPr lang="zh-TW" altLang="en-US" dirty="0"/>
          </a:p>
        </p:txBody>
      </p:sp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BB680E54-0973-F13C-3B4C-01BA748E01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904375"/>
              </p:ext>
            </p:extLst>
          </p:nvPr>
        </p:nvGraphicFramePr>
        <p:xfrm>
          <a:off x="5044642" y="5250152"/>
          <a:ext cx="1981675" cy="509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1295377" imgH="333372" progId="Equation.DSMT4">
                  <p:embed/>
                </p:oleObj>
              </mc:Choice>
              <mc:Fallback>
                <p:oleObj name="Equation" r:id="rId7" imgW="1295377" imgH="33337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642" y="5250152"/>
                        <a:ext cx="1981675" cy="509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492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05A1D90-B60C-6719-E138-ABE3302E2969}"/>
              </a:ext>
            </a:extLst>
          </p:cNvPr>
          <p:cNvSpPr txBox="1"/>
          <p:nvPr/>
        </p:nvSpPr>
        <p:spPr>
          <a:xfrm>
            <a:off x="4973782" y="2844225"/>
            <a:ext cx="2244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建構模型</a:t>
            </a:r>
          </a:p>
        </p:txBody>
      </p:sp>
    </p:spTree>
    <p:extLst>
      <p:ext uri="{BB962C8B-B14F-4D97-AF65-F5344CB8AC3E}">
        <p14:creationId xmlns:p14="http://schemas.microsoft.com/office/powerpoint/2010/main" val="3081747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FFB4A0-3086-1451-448B-23358891A79C}"/>
              </a:ext>
            </a:extLst>
          </p:cNvPr>
          <p:cNvSpPr txBox="1"/>
          <p:nvPr/>
        </p:nvSpPr>
        <p:spPr>
          <a:xfrm>
            <a:off x="4779818" y="554181"/>
            <a:ext cx="2632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誤差參數</a:t>
            </a:r>
          </a:p>
        </p:txBody>
      </p:sp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7535FC6C-8A8A-B89B-001B-47D03704A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496592"/>
              </p:ext>
            </p:extLst>
          </p:nvPr>
        </p:nvGraphicFramePr>
        <p:xfrm>
          <a:off x="1611738" y="2165485"/>
          <a:ext cx="3665177" cy="40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2524148" imgH="276130" progId="Equation.DSMT4">
                  <p:embed/>
                </p:oleObj>
              </mc:Choice>
              <mc:Fallback>
                <p:oleObj name="Equation" r:id="rId3" imgW="2524148" imgH="2761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1738" y="2165485"/>
                        <a:ext cx="3665177" cy="401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09B822F1-21BA-8D69-FC20-5D31802C71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714420"/>
              </p:ext>
            </p:extLst>
          </p:nvPr>
        </p:nvGraphicFramePr>
        <p:xfrm>
          <a:off x="1611738" y="3746238"/>
          <a:ext cx="2183740" cy="40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1400144" imgH="257049" progId="Equation.DSMT4">
                  <p:embed/>
                </p:oleObj>
              </mc:Choice>
              <mc:Fallback>
                <p:oleObj name="Equation" r:id="rId5" imgW="1400144" imgH="25704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1738" y="3746238"/>
                        <a:ext cx="2183740" cy="401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0AE5D6E8-F443-513B-33B8-1F2655EEA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881720"/>
              </p:ext>
            </p:extLst>
          </p:nvPr>
        </p:nvGraphicFramePr>
        <p:xfrm>
          <a:off x="1611738" y="5554811"/>
          <a:ext cx="2258014" cy="40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1448028" imgH="257049" progId="Equation.DSMT4">
                  <p:embed/>
                </p:oleObj>
              </mc:Choice>
              <mc:Fallback>
                <p:oleObj name="Equation" r:id="rId7" imgW="1448028" imgH="25704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1738" y="5554811"/>
                        <a:ext cx="2258014" cy="401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74FCC6BC-8884-D846-8AEC-5290CBEE19CE}"/>
              </a:ext>
            </a:extLst>
          </p:cNvPr>
          <p:cNvSpPr txBox="1"/>
          <p:nvPr/>
        </p:nvSpPr>
        <p:spPr>
          <a:xfrm>
            <a:off x="1463545" y="1584493"/>
            <a:ext cx="92649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誤差向量：                                  擴展誤差：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位置誤差：                                  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權重向量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速度誤差：                                  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擴展誤差約束項</a:t>
            </a:r>
            <a:r>
              <a:rPr lang="zh-TW" altLang="en-US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D0D4A7BA-F1EC-1977-C251-5C3A45D529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307766"/>
              </p:ext>
            </p:extLst>
          </p:nvPr>
        </p:nvGraphicFramePr>
        <p:xfrm>
          <a:off x="6625943" y="2144471"/>
          <a:ext cx="3774202" cy="4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2352776" imgH="276130" progId="Equation.DSMT4">
                  <p:embed/>
                </p:oleObj>
              </mc:Choice>
              <mc:Fallback>
                <p:oleObj name="Equation" r:id="rId9" imgW="2352776" imgH="276130" progId="Equation.DSMT4">
                  <p:embed/>
                  <p:pic>
                    <p:nvPicPr>
                      <p:cNvPr id="3" name="物件 2">
                        <a:extLst>
                          <a:ext uri="{FF2B5EF4-FFF2-40B4-BE49-F238E27FC236}">
                            <a16:creationId xmlns:a16="http://schemas.microsoft.com/office/drawing/2014/main" id="{4254C658-F8EF-4D57-9C4A-571913523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25943" y="2144471"/>
                        <a:ext cx="3774202" cy="44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5F31EF5A-5A98-3562-12CD-5CCCF09ADF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900760"/>
              </p:ext>
            </p:extLst>
          </p:nvPr>
        </p:nvGraphicFramePr>
        <p:xfrm>
          <a:off x="6625943" y="3730544"/>
          <a:ext cx="1327888" cy="4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790619" imgH="257049" progId="Equation.DSMT4">
                  <p:embed/>
                </p:oleObj>
              </mc:Choice>
              <mc:Fallback>
                <p:oleObj name="Equation" r:id="rId11" imgW="790619" imgH="257049" progId="Equation.DSMT4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2B75E015-75ED-41B8-69EA-4988ADD815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25943" y="3730544"/>
                        <a:ext cx="1327888" cy="431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F11AE1B5-4916-66DB-A990-E5C83EEB0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011738"/>
              </p:ext>
            </p:extLst>
          </p:nvPr>
        </p:nvGraphicFramePr>
        <p:xfrm>
          <a:off x="6625943" y="5374151"/>
          <a:ext cx="2942930" cy="762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1838297" imgH="476297" progId="Equation.DSMT4">
                  <p:embed/>
                </p:oleObj>
              </mc:Choice>
              <mc:Fallback>
                <p:oleObj name="Equation" r:id="rId13" imgW="1838297" imgH="476297" progId="Equation.DSMT4">
                  <p:embed/>
                  <p:pic>
                    <p:nvPicPr>
                      <p:cNvPr id="4" name="物件 3">
                        <a:extLst>
                          <a:ext uri="{FF2B5EF4-FFF2-40B4-BE49-F238E27FC236}">
                            <a16:creationId xmlns:a16="http://schemas.microsoft.com/office/drawing/2014/main" id="{55892049-FBC9-E458-B94C-40D0777E9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25943" y="5374151"/>
                        <a:ext cx="2942930" cy="7624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82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AC15B57-875A-A9B9-387B-97DDD96F779D}"/>
              </a:ext>
            </a:extLst>
          </p:cNvPr>
          <p:cNvSpPr txBox="1"/>
          <p:nvPr/>
        </p:nvSpPr>
        <p:spPr>
          <a:xfrm>
            <a:off x="4941455" y="563418"/>
            <a:ext cx="2309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控制力設計</a:t>
            </a:r>
          </a:p>
        </p:txBody>
      </p:sp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6F0B5E66-4E73-03E5-04C3-74A603EFEF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687458"/>
              </p:ext>
            </p:extLst>
          </p:nvPr>
        </p:nvGraphicFramePr>
        <p:xfrm>
          <a:off x="3205090" y="1323945"/>
          <a:ext cx="5781819" cy="417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4038480" imgH="291960" progId="Equation.DSMT4">
                  <p:embed/>
                </p:oleObj>
              </mc:Choice>
              <mc:Fallback>
                <p:oleObj name="Equation" r:id="rId3" imgW="4038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5090" y="1323945"/>
                        <a:ext cx="5781819" cy="417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4698B5AD-155B-0D82-A747-BB6789CE6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250534"/>
              </p:ext>
            </p:extLst>
          </p:nvPr>
        </p:nvGraphicFramePr>
        <p:xfrm>
          <a:off x="5515118" y="1904668"/>
          <a:ext cx="1161761" cy="40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698400" imgH="241200" progId="Equation.DSMT4">
                  <p:embed/>
                </p:oleObj>
              </mc:Choice>
              <mc:Fallback>
                <p:oleObj name="Equation" r:id="rId5" imgW="698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15118" y="1904668"/>
                        <a:ext cx="1161761" cy="40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CDC1735F-763C-44CB-9E4E-62CB3BBF34AF}"/>
              </a:ext>
            </a:extLst>
          </p:cNvPr>
          <p:cNvSpPr txBox="1"/>
          <p:nvPr/>
        </p:nvSpPr>
        <p:spPr>
          <a:xfrm>
            <a:off x="1117599" y="2466558"/>
            <a:ext cx="978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參數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向量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的更新規則：                             補償函數的更新規則：</a:t>
            </a:r>
          </a:p>
        </p:txBody>
      </p:sp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145CCF20-D865-2F5D-71FB-027A6D1CC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870276"/>
              </p:ext>
            </p:extLst>
          </p:nvPr>
        </p:nvGraphicFramePr>
        <p:xfrm>
          <a:off x="1210035" y="3035172"/>
          <a:ext cx="2669310" cy="1051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1933704" imgH="762147" progId="Equation.DSMT4">
                  <p:embed/>
                </p:oleObj>
              </mc:Choice>
              <mc:Fallback>
                <p:oleObj name="Equation" r:id="rId7" imgW="1933704" imgH="762147" progId="Equation.DSMT4">
                  <p:embed/>
                  <p:pic>
                    <p:nvPicPr>
                      <p:cNvPr id="3" name="物件 2">
                        <a:extLst>
                          <a:ext uri="{FF2B5EF4-FFF2-40B4-BE49-F238E27FC236}">
                            <a16:creationId xmlns:a16="http://schemas.microsoft.com/office/drawing/2014/main" id="{C9B4916D-E84D-D59D-B46B-20DFB5CE66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10035" y="3035172"/>
                        <a:ext cx="2669310" cy="1051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41134ACB-3235-712C-872C-18888ED7B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591157"/>
              </p:ext>
            </p:extLst>
          </p:nvPr>
        </p:nvGraphicFramePr>
        <p:xfrm>
          <a:off x="1210035" y="4089789"/>
          <a:ext cx="2909383" cy="395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2172042" imgH="295211" progId="Equation.DSMT4">
                  <p:embed/>
                </p:oleObj>
              </mc:Choice>
              <mc:Fallback>
                <p:oleObj name="Equation" r:id="rId9" imgW="2172042" imgH="295211" progId="Equation.DSMT4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0565C222-F930-6BAB-7047-CA1333CCA9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10035" y="4089789"/>
                        <a:ext cx="2909383" cy="3955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62781AE9-1954-DADB-02D1-C30304E553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238738"/>
              </p:ext>
            </p:extLst>
          </p:nvPr>
        </p:nvGraphicFramePr>
        <p:xfrm>
          <a:off x="1210035" y="4788178"/>
          <a:ext cx="3595650" cy="1298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2743200" imgH="990360" progId="Equation.DSMT4">
                  <p:embed/>
                </p:oleObj>
              </mc:Choice>
              <mc:Fallback>
                <p:oleObj name="Equation" r:id="rId11" imgW="2743200" imgH="990360" progId="Equation.DSMT4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B06CF674-BB27-DF0B-85EB-8E60D2FF9F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10035" y="4788178"/>
                        <a:ext cx="3595650" cy="1298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A886CC11-647A-AA83-46D5-35A9661B68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885637"/>
              </p:ext>
            </p:extLst>
          </p:nvPr>
        </p:nvGraphicFramePr>
        <p:xfrm>
          <a:off x="6760007" y="3035172"/>
          <a:ext cx="2669309" cy="782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3" imgW="1981228" imgH="581061" progId="Equation.DSMT4">
                  <p:embed/>
                </p:oleObj>
              </mc:Choice>
              <mc:Fallback>
                <p:oleObj name="Equation" r:id="rId13" imgW="1981228" imgH="581061" progId="Equation.DSMT4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03119B91-1B6B-A432-C58C-EA494A5660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60007" y="3035172"/>
                        <a:ext cx="2669309" cy="782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37C2AABF-8529-E9AD-2316-7368AF202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216785"/>
              </p:ext>
            </p:extLst>
          </p:nvPr>
        </p:nvGraphicFramePr>
        <p:xfrm>
          <a:off x="6760007" y="4109953"/>
          <a:ext cx="2337812" cy="380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5" imgW="1638482" imgH="266770" progId="Equation.DSMT4">
                  <p:embed/>
                </p:oleObj>
              </mc:Choice>
              <mc:Fallback>
                <p:oleObj name="Equation" r:id="rId15" imgW="1638482" imgH="266770" progId="Equation.DSMT4">
                  <p:embed/>
                  <p:pic>
                    <p:nvPicPr>
                      <p:cNvPr id="12" name="物件 11">
                        <a:extLst>
                          <a:ext uri="{FF2B5EF4-FFF2-40B4-BE49-F238E27FC236}">
                            <a16:creationId xmlns:a16="http://schemas.microsoft.com/office/drawing/2014/main" id="{986B99DB-6F57-97F2-E433-B03C11A82D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60007" y="4109953"/>
                        <a:ext cx="2337812" cy="3805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57F2E9CD-CCF2-9B64-4737-0CFAE84A90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890061"/>
              </p:ext>
            </p:extLst>
          </p:nvPr>
        </p:nvGraphicFramePr>
        <p:xfrm>
          <a:off x="6760007" y="4889738"/>
          <a:ext cx="3786973" cy="109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7" imgW="2895480" imgH="838080" progId="Equation.DSMT4">
                  <p:embed/>
                </p:oleObj>
              </mc:Choice>
              <mc:Fallback>
                <p:oleObj name="Equation" r:id="rId17" imgW="2895480" imgH="838080" progId="Equation.DSMT4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66107F73-D8A5-051B-72EE-4C6C137BE9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60007" y="4889738"/>
                        <a:ext cx="3786973" cy="109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1735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EE0CFFD-620F-DE53-0B9D-E0CC9764699A}"/>
              </a:ext>
            </a:extLst>
          </p:cNvPr>
          <p:cNvSpPr txBox="1"/>
          <p:nvPr/>
        </p:nvSpPr>
        <p:spPr>
          <a:xfrm>
            <a:off x="5093854" y="2844225"/>
            <a:ext cx="2004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模擬結果</a:t>
            </a:r>
          </a:p>
        </p:txBody>
      </p:sp>
    </p:spTree>
    <p:extLst>
      <p:ext uri="{BB962C8B-B14F-4D97-AF65-F5344CB8AC3E}">
        <p14:creationId xmlns:p14="http://schemas.microsoft.com/office/powerpoint/2010/main" val="2764559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6402019-8C0D-61F9-8BE1-69E526892287}"/>
              </a:ext>
            </a:extLst>
          </p:cNvPr>
          <p:cNvSpPr txBox="1"/>
          <p:nvPr/>
        </p:nvSpPr>
        <p:spPr>
          <a:xfrm>
            <a:off x="3038764" y="558861"/>
            <a:ext cx="6114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理想軌跡的生成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62A6C54-FBD2-407F-D3F6-52F770F1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59" y="1484606"/>
            <a:ext cx="4635070" cy="137167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C65B9F0-A06E-C40B-092F-0F8DF467DB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3596" y="1484606"/>
            <a:ext cx="4980745" cy="406644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F40F031-F7C7-0D79-AC71-32A26E27A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659" y="3525842"/>
            <a:ext cx="4082356" cy="143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93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A571A63-37A2-345D-53B5-3D4AC5CB974A}"/>
              </a:ext>
            </a:extLst>
          </p:cNvPr>
          <p:cNvSpPr txBox="1"/>
          <p:nvPr/>
        </p:nvSpPr>
        <p:spPr>
          <a:xfrm>
            <a:off x="3038764" y="558861"/>
            <a:ext cx="6114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實際軌跡的生成</a:t>
            </a: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A085AEA0-8867-39E7-06E4-18ADC32CE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241232"/>
              </p:ext>
            </p:extLst>
          </p:nvPr>
        </p:nvGraphicFramePr>
        <p:xfrm>
          <a:off x="1412370" y="1514011"/>
          <a:ext cx="3252788" cy="219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2336760" imgH="1574640" progId="Equation.DSMT4">
                  <p:embed/>
                </p:oleObj>
              </mc:Choice>
              <mc:Fallback>
                <p:oleObj name="Equation" r:id="rId3" imgW="2336760" imgH="1574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2370" y="1514011"/>
                        <a:ext cx="3252788" cy="219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87136DE2-6948-8C8E-4595-F8BC5EF84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06349"/>
            <a:ext cx="5124639" cy="165418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CE6F2B8-3076-3FA4-4F20-31AC2522D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732303"/>
            <a:ext cx="5124639" cy="1632417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040B0B96-B1FD-D688-1A16-8F8AD7398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361" y="3971777"/>
            <a:ext cx="4829849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18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3C8CA69-DA35-3298-EE9C-37219C3959AF}"/>
              </a:ext>
            </a:extLst>
          </p:cNvPr>
          <p:cNvSpPr txBox="1"/>
          <p:nvPr/>
        </p:nvSpPr>
        <p:spPr>
          <a:xfrm>
            <a:off x="4761345" y="554182"/>
            <a:ext cx="2669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迭代學習參數</a:t>
            </a:r>
          </a:p>
        </p:txBody>
      </p:sp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7AA70C4F-AABE-422E-21A3-456B67426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899202"/>
              </p:ext>
            </p:extLst>
          </p:nvPr>
        </p:nvGraphicFramePr>
        <p:xfrm>
          <a:off x="4051168" y="1450042"/>
          <a:ext cx="3552391" cy="1978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2781000" imgH="1549080" progId="Equation.DSMT4">
                  <p:embed/>
                </p:oleObj>
              </mc:Choice>
              <mc:Fallback>
                <p:oleObj name="Equation" r:id="rId3" imgW="2781000" imgH="1549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51168" y="1450042"/>
                        <a:ext cx="3552391" cy="19789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139B4F34-5973-E6A4-DDCA-89C68D14A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168" y="3861316"/>
            <a:ext cx="4972744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71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B99281B1-7DF4-61DA-5F67-48CC09720324}"/>
              </a:ext>
            </a:extLst>
          </p:cNvPr>
          <p:cNvSpPr txBox="1"/>
          <p:nvPr/>
        </p:nvSpPr>
        <p:spPr>
          <a:xfrm>
            <a:off x="3038763" y="549626"/>
            <a:ext cx="6114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迭代學習流程圖</a:t>
            </a:r>
            <a:endParaRPr lang="zh-TW" altLang="en-US" sz="3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8DA368E-58F0-64F4-E961-42AB9F9E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75" y="1638300"/>
            <a:ext cx="8109250" cy="379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73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9A3514B-1505-56E2-E02B-E3BDCC04A0EA}"/>
              </a:ext>
            </a:extLst>
          </p:cNvPr>
          <p:cNvSpPr txBox="1"/>
          <p:nvPr/>
        </p:nvSpPr>
        <p:spPr>
          <a:xfrm>
            <a:off x="5166163" y="544945"/>
            <a:ext cx="1893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迭代結果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05F33B-6CEF-FC65-CA3A-FB619AA8DD1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8122" y="1610073"/>
            <a:ext cx="4542127" cy="3563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9338382-1064-7912-70B1-5DEAF3500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891" y="1991339"/>
            <a:ext cx="4786142" cy="256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43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A071AF1-BC30-B3DA-604F-4075DB460C8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63" y="1682959"/>
            <a:ext cx="4380976" cy="349208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EC21555-BAE3-AA5A-FFCD-4E65E6839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61" y="1849215"/>
            <a:ext cx="4154821" cy="126495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AF59309-8343-4C27-42B6-0620835C1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361" y="3591099"/>
            <a:ext cx="4154822" cy="1341136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37E46EDD-101C-1A3A-3421-1581E4BF51F4}"/>
              </a:ext>
            </a:extLst>
          </p:cNvPr>
          <p:cNvCxnSpPr>
            <a:cxnSpLocks/>
          </p:cNvCxnSpPr>
          <p:nvPr/>
        </p:nvCxnSpPr>
        <p:spPr>
          <a:xfrm>
            <a:off x="5423986" y="3278910"/>
            <a:ext cx="13440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308A7CE4-D35F-89A1-7DA6-56B80E436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487713"/>
              </p:ext>
            </p:extLst>
          </p:nvPr>
        </p:nvGraphicFramePr>
        <p:xfrm>
          <a:off x="5807396" y="2821685"/>
          <a:ext cx="577205" cy="384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6" imgW="304560" imgH="203040" progId="Equation.DSMT4">
                  <p:embed/>
                </p:oleObj>
              </mc:Choice>
              <mc:Fallback>
                <p:oleObj name="Equation" r:id="rId6" imgW="304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07396" y="2821685"/>
                        <a:ext cx="577205" cy="384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F6A9748D-F63D-4769-15C6-33684E0638C9}"/>
              </a:ext>
            </a:extLst>
          </p:cNvPr>
          <p:cNvSpPr txBox="1"/>
          <p:nvPr/>
        </p:nvSpPr>
        <p:spPr>
          <a:xfrm>
            <a:off x="5176979" y="546903"/>
            <a:ext cx="18380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迭代結果</a:t>
            </a:r>
          </a:p>
        </p:txBody>
      </p:sp>
    </p:spTree>
    <p:extLst>
      <p:ext uri="{BB962C8B-B14F-4D97-AF65-F5344CB8AC3E}">
        <p14:creationId xmlns:p14="http://schemas.microsoft.com/office/powerpoint/2010/main" val="3140039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F53CFB6-0A64-92C2-061B-680F61CF426A}"/>
              </a:ext>
            </a:extLst>
          </p:cNvPr>
          <p:cNvSpPr txBox="1"/>
          <p:nvPr/>
        </p:nvSpPr>
        <p:spPr>
          <a:xfrm>
            <a:off x="4511963" y="2844225"/>
            <a:ext cx="3168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報告結束</a:t>
            </a:r>
          </a:p>
        </p:txBody>
      </p:sp>
    </p:spTree>
    <p:extLst>
      <p:ext uri="{BB962C8B-B14F-4D97-AF65-F5344CB8AC3E}">
        <p14:creationId xmlns:p14="http://schemas.microsoft.com/office/powerpoint/2010/main" val="18735724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1897</TotalTime>
  <Words>259</Words>
  <Application>Microsoft Office PowerPoint</Application>
  <PresentationFormat>寬螢幕</PresentationFormat>
  <Paragraphs>58</Paragraphs>
  <Slides>19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新細明體</vt:lpstr>
      <vt:lpstr>標楷體</vt:lpstr>
      <vt:lpstr>Arial</vt:lpstr>
      <vt:lpstr>Garamond</vt:lpstr>
      <vt:lpstr>Times New Roman</vt:lpstr>
      <vt:lpstr>有機</vt:lpstr>
      <vt:lpstr>Equation</vt:lpstr>
      <vt:lpstr>智慧型控制 期末報告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智慧型控制 期末報告</dc:title>
  <dc:creator>王睿讚</dc:creator>
  <cp:lastModifiedBy>王睿讚</cp:lastModifiedBy>
  <cp:revision>13</cp:revision>
  <dcterms:created xsi:type="dcterms:W3CDTF">2024-10-18T16:39:50Z</dcterms:created>
  <dcterms:modified xsi:type="dcterms:W3CDTF">2025-12-05T05:21:56Z</dcterms:modified>
</cp:coreProperties>
</file>